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1148085908000" cy="26338011840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1148085908000" cy="288036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</a:p>
        </p:txBody>
      </p:sp>
      <p:sp>
        <p:nvSpPr>
          <p:cNvPr id="5" name="Rounded Rectangle 4"/>
          <p:cNvSpPr/>
          <p:nvPr/>
        </p:nvSpPr>
        <p:spPr>
          <a:xfrm>
            <a:off x="640080" y="777240"/>
            <a:ext cx="10881360" cy="10058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RIHAI SETU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874519"/>
            <a:ext cx="10515600" cy="5486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2000" b="0">
                <a:solidFill>
                  <a:srgbClr val="E8A04C"/>
                </a:solidFill>
                <a:latin typeface="Segoe UI"/>
              </a:rPr>
              <a:t>From Custody to Reintegration — one digital workflow for undertrial justice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694944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800" b="1">
                <a:solidFill>
                  <a:srgbClr val="1F2A44"/>
                </a:solidFill>
                <a:latin typeface="Segoe UI"/>
              </a:rPr>
              <a:t>Smart India Hackathon 2026</a:t>
            </a:r>
          </a:p>
          <a:p>
            <a:pPr algn="l"/>
            <a:r>
              <a:rPr sz="1300" b="0">
                <a:solidFill>
                  <a:srgbClr val="5B6473"/>
                </a:solidFill>
                <a:latin typeface="Segoe UI"/>
              </a:rPr>
              <a:t>Section 479 BNSS compliance · Overcrowding analytics · Skill-to-job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2600" b="1">
                <a:solidFill>
                  <a:srgbClr val="D9531E"/>
                </a:solidFill>
                <a:latin typeface="Segoe UI"/>
              </a:rPr>
              <a:t>6</a:t>
            </a:r>
          </a:p>
          <a:p>
            <a:pPr algn="ctr"/>
            <a:r>
              <a:rPr sz="1150" b="0">
                <a:solidFill>
                  <a:srgbClr val="5B6473"/>
                </a:solidFill>
                <a:latin typeface="Segoe UI"/>
              </a:rPr>
              <a:t>jails modelled on NCRB PSI-2024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5262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2600" b="1">
                <a:solidFill>
                  <a:srgbClr val="D9531E"/>
                </a:solidFill>
                <a:latin typeface="Segoe UI"/>
              </a:rPr>
              <a:t>11,077</a:t>
            </a:r>
          </a:p>
          <a:p>
            <a:pPr algn="ctr"/>
            <a:r>
              <a:rPr sz="1150" b="0">
                <a:solidFill>
                  <a:srgbClr val="5B6473"/>
                </a:solidFill>
                <a:latin typeface="Segoe UI"/>
              </a:rPr>
              <a:t>prisoner records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262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2600" b="1">
                <a:solidFill>
                  <a:srgbClr val="D9531E"/>
                </a:solidFill>
                <a:latin typeface="Segoe UI"/>
              </a:rPr>
              <a:t>54/54</a:t>
            </a:r>
          </a:p>
          <a:p>
            <a:pPr algn="ctr"/>
            <a:r>
              <a:rPr sz="1150" b="0">
                <a:solidFill>
                  <a:srgbClr val="5B6473"/>
                </a:solidFill>
                <a:latin typeface="Segoe UI"/>
              </a:rPr>
              <a:t>E2E API checks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39" y="45262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2600" b="1">
                <a:solidFill>
                  <a:srgbClr val="D9531E"/>
                </a:solidFill>
                <a:latin typeface="Segoe UI"/>
              </a:rPr>
              <a:t>152.7%</a:t>
            </a:r>
          </a:p>
          <a:p>
            <a:pPr algn="ctr"/>
            <a:r>
              <a:rPr sz="1150" b="0">
                <a:solidFill>
                  <a:srgbClr val="5B6473"/>
                </a:solidFill>
                <a:latin typeface="Segoe UI"/>
              </a:rPr>
              <a:t>avg occupancy reproduced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172200"/>
            <a:ext cx="10881360" cy="36576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100" b="0">
                <a:solidFill>
                  <a:srgbClr val="5B6473"/>
                </a:solidFill>
                <a:latin typeface="Segoe UI"/>
              </a:rPr>
              <a:t>Data: NCRB Prison Statistics India 2024 (Tables 1.2 &amp; 1.7) — scaled 10× with ratios preserved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Why undertrials stay stuck — today's government-process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700" b="1">
                <a:solidFill>
                  <a:srgbClr val="C0392B"/>
                </a:solidFill>
                <a:latin typeface="Segoe UI"/>
              </a:rPr>
              <a:t>Eligibility is invisible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Under §479 BNSS thousands qualify for bond but nobody systematically identifies them inside jails.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700" b="1">
                <a:solidFill>
                  <a:srgbClr val="C0392B"/>
                </a:solidFill>
                <a:latin typeface="Segoe UI"/>
              </a:rPr>
              <a:t>Paper moves by hand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Bail / bond drafts are typed repeatedly, physically carried between jail, DLSA and courts; hearings slip.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700" b="1">
                <a:solidFill>
                  <a:srgbClr val="C0392B"/>
                </a:solidFill>
                <a:latin typeface="Segoe UI"/>
              </a:rPr>
              <a:t>Overcrowding is a surprise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Occupancy is counted manually; no projection, no backlog view, no early warning per jail.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700" b="1">
                <a:solidFill>
                  <a:srgbClr val="C0392B"/>
                </a:solidFill>
                <a:latin typeface="Segoe UI"/>
              </a:rPr>
              <a:t>No post-custody bridge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Skills learnt in jail workshops never reach employers; recidivism risk rises after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9788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PSI-2024 reality: 5.11 lakh inmates · 72.6% undertrials · 112.7% national occupancy · Delhi at 194.6%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One workflow: custody → eligibility → court → release →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 · Identify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8503920" cy="77724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§479 engine computes eligibility for every inmate nightly; flags who qualifies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78608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 · 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578608"/>
            <a:ext cx="8503920" cy="77724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Superintendent auto-drafts bail / personal-bond documents from the case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11296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 · File &amp;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511296"/>
            <a:ext cx="8503920" cy="77724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DLSA lawyer assigns, stages tracked: drafted → filed → hearing →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43984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 ·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443984"/>
            <a:ext cx="8503920" cy="77724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Surety tracking, family SMS/WhatsApp alerts, stall alerts escalate delays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76672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 · Reintegrate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5376672"/>
            <a:ext cx="8503920" cy="77724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00" b="0">
                <a:solidFill>
                  <a:srgbClr val="1F2A44"/>
                </a:solidFill>
                <a:latin typeface="Segoe UI"/>
              </a:rPr>
              <a:t>Skill passport + AI job matching to NGO employer vacancies near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Simplified architecture — components &amp;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Staff Console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React + Vite + TanStack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Prisoner Portal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PIN / kiosk-biometric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NGO Dashboard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post jobs, review 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554480"/>
            <a:ext cx="3291840" cy="29718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Express REST API</a:t>
            </a:r>
          </a:p>
          <a:p>
            <a:pPr algn="l"/>
            <a:r>
              <a:rPr sz="1100" b="0">
                <a:solidFill>
                  <a:srgbClr val="FFF6EC"/>
                </a:solidFill>
                <a:latin typeface="Segoe UI"/>
              </a:rPr>
              <a:t>JWT auth + refresh rotation</a:t>
            </a:r>
          </a:p>
          <a:p>
            <a:pPr algn="l"/>
            <a:r>
              <a:rPr sz="1100" b="0">
                <a:solidFill>
                  <a:srgbClr val="FFF6EC"/>
                </a:solidFill>
                <a:latin typeface="Segoe UI"/>
              </a:rPr>
              <a:t>RBAC middleware (role × jail)</a:t>
            </a:r>
          </a:p>
          <a:p>
            <a:pPr algn="l"/>
            <a:r>
              <a:rPr sz="1100" b="0">
                <a:solidFill>
                  <a:srgbClr val="FFF6EC"/>
                </a:solidFill>
                <a:latin typeface="Segoe UI"/>
              </a:rPr>
              <a:t>Zod validation · Helmet · rate-limit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5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1F2A44"/>
                </a:solidFill>
                <a:latin typeface="Segoe UI"/>
              </a:rPr>
              <a:t>§479 Eligibility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395728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5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1F2A44"/>
                </a:solidFill>
                <a:latin typeface="Segoe UI"/>
              </a:rPr>
              <a:t>Overcrowding &amp;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236976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5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1">
                <a:solidFill>
                  <a:srgbClr val="1F2A44"/>
                </a:solidFill>
                <a:latin typeface="Segoe UI"/>
              </a:rPr>
              <a:t>Compliance &amp; Court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89204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 algn="l"/>
            <a:r>
              <a:rPr sz="1050" b="0">
                <a:solidFill>
                  <a:srgbClr val="FFF6EC"/>
                </a:solidFill>
                <a:latin typeface="Segoe UI"/>
              </a:rPr>
              <a:t>Prisma ORM · shared by Node +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34340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2F8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1F2A44"/>
                </a:solidFill>
                <a:latin typeface="Segoe UI"/>
              </a:rPr>
              <a:t>FastAPI Recommender (Python)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TF-IDF skill ↔ job matcher over shared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5349240"/>
            <a:ext cx="39319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B64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100" b="0">
                <a:solidFill>
                  <a:srgbClr val="5B6473"/>
                </a:solidFill>
                <a:latin typeface="Segoe UI"/>
              </a:rPr>
              <a:t>SMS / WhatsApp provider (Twilio seam)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5897880"/>
            <a:ext cx="39319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B64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100" b="0">
                <a:solidFill>
                  <a:srgbClr val="5B6473"/>
                </a:solidFill>
                <a:latin typeface="Segoe UI"/>
              </a:rPr>
              <a:t>Kiosk biometric mock (help desk)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1984248"/>
            <a:ext cx="777240" cy="393192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3035808"/>
            <a:ext cx="777240" cy="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926080" y="3749039"/>
            <a:ext cx="777240" cy="338329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086600" y="1920240"/>
            <a:ext cx="502920" cy="2743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086600" y="2743200"/>
            <a:ext cx="502920" cy="2743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86600" y="3566160"/>
            <a:ext cx="502920" cy="2743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94960" y="4572000"/>
            <a:ext cx="0" cy="2743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86600" y="4892040"/>
            <a:ext cx="502920" cy="502920"/>
          </a:xfrm>
          <a:prstGeom prst="line">
            <a:avLst/>
          </a:prstGeom>
          <a:ln w="20320">
            <a:solidFill>
              <a:srgbClr val="5B64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0" y="4590288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Prisma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956048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What powers each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React 19 + Vite + TypeScript, TanStack Query, TailwindCSS, react-router; i18n EN/हिंदी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76272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176272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Node.js + Express 4, Zod schemas, JWT access/refresh with rotation &amp; revoke-all, morgan + helmet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98064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98064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PostgreSQL 16 via Prisma ORM — single shared schema for app + AI services; migrations versioned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19856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419856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AES-256-GCM envelope encryption for Tier-1 PII (name/DOB/kin/photo), HMAC blind index for name search, append-only audit log, DPDP data-request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41648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AI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041648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Python FastAPI recommender (skill_dictionary TF-IDF matching) + demo chatbot; reads same Postgres, stays stateless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Integrations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663440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Court-status provider seam, Twilio SMS/WhatsApp (logging fallback in dev), kiosk biometric provider seam, DigiLocker placeholder (NIC SSO-ready)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85231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Data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5285231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Bulk CSV/XLSX ingestion with row-level validation, human reconciliation queue, provenance 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07023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5907023"/>
            <a:ext cx="9006840" cy="56692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50" b="0">
                <a:solidFill>
                  <a:srgbClr val="1F2A44"/>
                </a:solidFill>
                <a:latin typeface="Segoe UI"/>
              </a:rPr>
              <a:t>npm workspaces monorepo, tsx dev, prisma migrate, python-pptx reporting, seeded PSI-2024 datasets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Core entities (simplified UML) — PostgreSQL via Prisma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1488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Jail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19656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code, state, district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sanctionedCapacity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21488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99815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role (global)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mfaSecretEnc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69080"/>
            <a:ext cx="21488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JailAccess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79976"/>
            <a:ext cx="2148840" cy="576071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userId ⟶ User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jailId ⟶ Jail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roleAtJail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Prisoner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819656"/>
            <a:ext cx="2377440" cy="768095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prisonerRegNo (uniq)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full_name_enc 🔒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pin_hash (portal)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consentToShareProfile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52044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CaseRecord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831336"/>
            <a:ext cx="2377440" cy="576071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cnrNumber, offence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maxSentenceYears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custodyStartDate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507492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EligibilityAssess.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5385816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status, reason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(append-only)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0876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19656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stage (flagged→released)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hearingDate, stageHistory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LegalAidAssign 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02736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SuretyStatus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(1—1 with Application)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70916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Note / StallAlert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020056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welfare + delay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508760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Enrollment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819656"/>
            <a:ext cx="233172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progressPct, cert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⟶ TrainingProgram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3063240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OccupancySnapshot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374136"/>
            <a:ext cx="233172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date, occupancy,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undertrial/convict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617720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JobPosting ⟵ JobApplication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4928616"/>
            <a:ext cx="2331720" cy="38404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950" b="0">
                <a:solidFill>
                  <a:srgbClr val="1F2A44"/>
                </a:solidFill>
                <a:latin typeface="Segoe UI"/>
              </a:rPr>
              <a:t>ngoId, skills[]</a:t>
            </a:r>
            <a:br/>
            <a:r>
              <a:rPr sz="950" b="0">
                <a:solidFill>
                  <a:srgbClr val="1F2A44"/>
                </a:solidFill>
                <a:latin typeface="Segoe UI"/>
              </a:rPr>
              <a:t>⟶ Prisoner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51760" y="1783080"/>
            <a:ext cx="640080" cy="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517904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0">
                <a:solidFill>
                  <a:srgbClr val="5B6473"/>
                </a:solidFill>
                <a:latin typeface="Segoe UI"/>
              </a:rPr>
              <a:t>1 ⟶ *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80560" y="2788920"/>
            <a:ext cx="0" cy="68580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0" y="2999232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0">
                <a:solidFill>
                  <a:srgbClr val="5B6473"/>
                </a:solidFill>
                <a:latin typeface="Segoe UI"/>
              </a:rPr>
              <a:t>1 ⟶ *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80560" y="4526280"/>
            <a:ext cx="0" cy="5029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4645152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0">
                <a:solidFill>
                  <a:srgbClr val="5B6473"/>
                </a:solidFill>
                <a:latin typeface="Segoe UI"/>
              </a:rPr>
              <a:t>1 ⟶ *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715000" y="2011680"/>
            <a:ext cx="594360" cy="274320"/>
          </a:xfrm>
          <a:prstGeom prst="line">
            <a:avLst/>
          </a:prstGeom>
          <a:ln w="20320">
            <a:solidFill>
              <a:srgbClr val="5B647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742432" y="1883664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0">
                <a:solidFill>
                  <a:srgbClr val="5B6473"/>
                </a:solidFill>
                <a:latin typeface="Segoe UI"/>
              </a:rPr>
              <a:t>1 ⟶ *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5715000" y="2377440"/>
            <a:ext cx="594360" cy="1600199"/>
          </a:xfrm>
          <a:prstGeom prst="line">
            <a:avLst/>
          </a:prstGeom>
          <a:ln w="20320">
            <a:solidFill>
              <a:srgbClr val="5B64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554480" y="2395728"/>
            <a:ext cx="2011680" cy="2286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0">
                <a:solidFill>
                  <a:srgbClr val="5B6473"/>
                </a:solidFill>
                <a:latin typeface="Segoe UI"/>
              </a:rPr>
              <a:t>scope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554480" y="2514600"/>
            <a:ext cx="0" cy="228600"/>
          </a:xfrm>
          <a:prstGeom prst="line">
            <a:avLst/>
          </a:prstGeom>
          <a:ln w="20320">
            <a:solidFill>
              <a:srgbClr val="5B64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554480" y="3520440"/>
            <a:ext cx="0" cy="502920"/>
          </a:xfrm>
          <a:prstGeom prst="line">
            <a:avLst/>
          </a:prstGeom>
          <a:ln w="20320">
            <a:solidFill>
              <a:srgbClr val="5B64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RBAC — global role × per-jail membership (enforced in middleware)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Super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Superintendent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Jail 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DLSA Lawyer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NGO Partner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60" y="14630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Prisoner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286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See all jails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all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own jail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own jail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assigned jails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assigned jail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92024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04288"/>
            <a:ext cx="228600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View inmates + encrypted PII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case-only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24160" y="2304288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self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88336"/>
            <a:ext cx="2286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Add / edit inmates &amp; cases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688336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72384"/>
            <a:ext cx="228600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§479 recompute + auto-draft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3072384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56432"/>
            <a:ext cx="2286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Application stage /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draft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assign +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read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3456432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view 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840480"/>
            <a:ext cx="228600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Legal-aid queues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6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read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4160" y="3840480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224528"/>
            <a:ext cx="2286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Compliance report export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all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24160" y="4224528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608576"/>
            <a:ext cx="228600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Post jobs / match candidates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admin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apply for inmate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 own jobs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4160" y="4608576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992624"/>
            <a:ext cx="2286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Portal self-service (PIN/kiosk)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temp PIN issue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temp PIN issue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24160" y="4992624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376672"/>
            <a:ext cx="228600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>
                <a:solidFill>
                  <a:srgbClr val="1F2A44"/>
                </a:solidFill>
                <a:latin typeface="Segoe UI"/>
              </a:rPr>
              <a:t>Admin: audit log, ingestion, templates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2F8F4E"/>
                </a:solidFill>
                <a:latin typeface="Segoe UI"/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336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0352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6384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24160" y="5376672"/>
            <a:ext cx="1280160" cy="384048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C0392B"/>
                </a:solidFill>
                <a:latin typeface="Segoe UI"/>
              </a:rPr>
              <a:t>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DATA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NCRB Prison Statistics India 2024 — scaled 10×, ratios preserved exactly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Jail (modelled on PSI-2024 top-overcrowded)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5087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Inmates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087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5087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PSI-2024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42062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Yamuna Central Prison (Delhi — 194.6%)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965960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1,003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65960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1,951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965960"/>
            <a:ext cx="14630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194.5%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965960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10,026 / 19,512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42062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Umiam District Jail (Meghalaya — 163.5%)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404872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86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04872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141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404872"/>
            <a:ext cx="14630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164.0%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404872"/>
            <a:ext cx="27432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860 / 1,406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43784"/>
            <a:ext cx="42062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Tawi Central Prison (J&amp;K — 148.3%)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843784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363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43784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538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43784"/>
            <a:ext cx="14630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148.2%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843784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3,629 / 5,383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82696"/>
            <a:ext cx="42062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Vindhyachal Central Prison (MP — 147.1%)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282696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3,064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282696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4,509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82696"/>
            <a:ext cx="14630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147.2%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282696"/>
            <a:ext cx="27432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30,644 / 45,092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21608"/>
            <a:ext cx="42062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Godavari Mahila Central Prison (MH women — 145.8%)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721608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721608"/>
            <a:ext cx="13716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721608"/>
            <a:ext cx="146304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146.2%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721608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262 / 382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42062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0">
                <a:solidFill>
                  <a:srgbClr val="1F2A44"/>
                </a:solidFill>
                <a:latin typeface="Segoe UI"/>
              </a:rPr>
              <a:t>Sahyadri Central Prison (Maharashtra — 143.9%)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160520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2,711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160520"/>
            <a:ext cx="13716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3,900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160520"/>
            <a:ext cx="146304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143.9%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4160520"/>
            <a:ext cx="2743200" cy="43891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A44"/>
                </a:solidFill>
                <a:latin typeface="Segoe UI"/>
              </a:rPr>
              <a:t>27,110 / 39,003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800600"/>
            <a:ext cx="11247120" cy="502920"/>
          </a:xfrm>
          <a:prstGeom prst="roundRect">
            <a:avLst>
              <a:gd name="adj" fmla="val 12000"/>
            </a:avLst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Totals in live database: 11,077 prisoners vs 7,253 capacity = 152.7% average occupancy — every ratio identical to the 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53212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1F2A44"/>
                </a:solidFill>
                <a:latin typeface="Segoe UI"/>
              </a:rPr>
              <a:t>Why scale down?</a:t>
            </a:r>
          </a:p>
          <a:p>
            <a:pPr algn="l"/>
            <a:r>
              <a:rPr sz="1150" b="0">
                <a:solidFill>
                  <a:srgbClr val="5B6473"/>
                </a:solidFill>
                <a:latin typeface="Segoe UI"/>
              </a:rPr>
              <a:t>Demo-friendly numbers keep the exact overcrowding story: 19,512 inmates ÷ 10 = 1,951 rows, so live counts, dashboards and projections reproduce official percentages precisely.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SECURITY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DPDP-aligned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Tier-1 PII envelope encryption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Full name, DOB, next-of-kin, photo stored ONLY as AES-256-GCM envelopes (v1:&lt;wrapped DEK&gt;:iv:tag:ct). KMS-shaped wire format ready for AWS KMS swap.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Searchable without plaintext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HMAC-SHA256 blind index (name_idx) enables exact-name search while values stay encrypted.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Every sensitive touch audited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Append-only AuditLog: actor, action, entity, fields touched, IP — incl. failed portal PIN logins.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Consent gates everything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Prisoner consent required before any profile sharing with NGOs; family notifications require explicit next-of-kin consent.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Data-principal rights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In-app correction/deletion requests (DataRequest) actioned by admins — DPDP §12/§17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50" b="1">
                <a:solidFill>
                  <a:srgbClr val="1F2A44"/>
                </a:solidFill>
                <a:latin typeface="Segoe UI"/>
              </a:rPr>
              <a:t>Session hygiene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Refresh-token rotation with DB-backed sessions, revoke-all, MFA (TOTP) enrollment for staff.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End-to-end test sweep — 54/54 checks passing (live 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Auth &amp;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08760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6 roles login, /me, RBAC denials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1508760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6/6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11095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Jail scoping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11095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super admin 6 · superintendent 1 · dlsa 2 · viewer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1911095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13432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PSI-2024 ratios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313432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all six jails reproduce exact percentages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2313432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6/6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15768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Prisoners &amp; PII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715768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list/search/detail/case/apps, decryption works, cross-jail blocked 403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271576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8/8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18103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Superintendent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118103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eligible queue (344), viewer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3118103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2/2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0439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Court &amp; legal aid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520439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tracking, unassigned/granted queues, application doc 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3520439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5/5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22776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Overcrowding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3922776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current 194.5%, projection 31 pts, backlog, rollup totals exact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3922776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4/4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25112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325112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jail + rollup reports with date 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4325112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2/2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27448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Notifications/admin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727448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inbox, 32 templates, audit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472744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3/3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29784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Ingestion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5129784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CSV upload staged: 5 rows, 1 intentional error flagged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78440" y="5129784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1/1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32120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NGO + AI match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5532120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job listings, stats, skills catalog, 5 recommendations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5532120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4/4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934456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1F2A44"/>
                </a:solidFill>
                <a:latin typeface="Segoe UI"/>
              </a:rPr>
              <a:t>Prisoner portal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5934456"/>
            <a:ext cx="731520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5B6473"/>
                </a:solidFill>
                <a:latin typeface="Segoe UI"/>
              </a:rPr>
              <a:t>demo accounts, PIN 2468 login, profile/documents, wrong-PIN rejected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78440" y="5934456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F8F4E"/>
                </a:solidFill>
                <a:latin typeface="Segoe UI"/>
              </a:rPr>
              <a:t>7/7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428232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All fixes verified: super admin sees all 6 jails · role scopes documented on login page · prisoner demo PIN 2468 auto-provisioned at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Versus current manual / legacy prison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4114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63040"/>
            <a:ext cx="4297680" cy="4114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Earlier government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463040"/>
            <a:ext cx="4846320" cy="4114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RIHAI SETU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1031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Eligibility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74519"/>
            <a:ext cx="42976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Manual, complaint-driven; eligible undertrials languish unnoticed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74519"/>
            <a:ext cx="4846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Nightly §479 computation surfaces every eligible inmate with reason 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21031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Bail paperwork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496312"/>
            <a:ext cx="429768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Retyped per application; weeks of delay; versions diverge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496312"/>
            <a:ext cx="48463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Auto-drafted from case record, one-click staging flagged→filed→hearing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18104"/>
            <a:ext cx="21031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Overcrowding visibility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118104"/>
            <a:ext cx="42976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Monthly manual tallies; no forecasting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118104"/>
            <a:ext cx="4846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Live dashboards, 30/60/90-day projections, stall alerts &amp; escalation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39896"/>
            <a:ext cx="21031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Inter-agency coordination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739896"/>
            <a:ext cx="429768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Physical letters jail↔DLSA↔court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739896"/>
            <a:ext cx="48463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Shared DB roles: superintendent, DLSA lawyer and court sync in one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21031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Family 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361688"/>
            <a:ext cx="42976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None systematic; families travel blind to hearings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361688"/>
            <a:ext cx="4846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Consented SMS/WhatsApp on filing, hearing, order and release events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83480"/>
            <a:ext cx="21031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Rehabilitation 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983480"/>
            <a:ext cx="429768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Jail skills end at the workshop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983480"/>
            <a:ext cx="4846320" cy="621792"/>
          </a:xfrm>
          <a:prstGeom prst="rect">
            <a:avLst/>
          </a:prstGeom>
          <a:solidFill>
            <a:srgbClr val="FFF6EC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Digital skill passport matched by AI to verified NGO job openings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05272"/>
            <a:ext cx="21031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F2A44"/>
                </a:solidFill>
                <a:latin typeface="Segoe UI"/>
              </a:rPr>
              <a:t>Records &amp; privacy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605272"/>
            <a:ext cx="42976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1F2A44"/>
                </a:solidFill>
                <a:latin typeface="Segoe UI"/>
              </a:rPr>
              <a:t>Paper registers, plaintext spreadsheets, leaks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5605272"/>
            <a:ext cx="4846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E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>
                <a:solidFill>
                  <a:srgbClr val="2F8F4E"/>
                </a:solidFill>
                <a:latin typeface="Segoe UI"/>
              </a:rPr>
              <a:t>Encrypted PII, consent ledger, audit trail, DPDP data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HONEST DRAWBACKS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Known limitations of the current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Synthetic identities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Names/contacts are generated; real deployment needs verified admission feeds (eCustody/ICJS integration).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Court integration is a seam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eCourts sync is provider-mocked; live CNR status requires NIC eCourts API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Single-database coupling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Recommender shares the app's Postgres; at scale it should move to its own store/read-replica.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Biometric &amp; DigiLocker placeholders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Kiosk scanner and NIC MeriPehchaan/DigiLocker flows are functional mocks pending vendor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Notifications need telecom onboarding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Real SMS/WhatsApp requires DLT-registered Twilio/gateway credentials; dev uses logging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C0392B"/>
                </a:solidFill>
                <a:latin typeface="Segoe UI"/>
              </a:rPr>
              <a:t>Recommendations are lexical</a:t>
            </a:r>
          </a:p>
          <a:p>
            <a:pPr algn="l"/>
            <a:r>
              <a:rPr sz="1050" b="0">
                <a:solidFill>
                  <a:srgbClr val="5B6473"/>
                </a:solidFill>
                <a:latin typeface="Segoe UI"/>
              </a:rPr>
              <a:t>TF-IDF skill matching, not learned ranking; cold-start for niche trades; no fairness audit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2296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200" b="1">
                <a:solidFill>
                  <a:srgbClr val="D9531E"/>
                </a:solidFill>
                <a:latin typeface="Segoe UI"/>
              </a:rP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124712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From hackathon build to pilot-ready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Pilot v1 (3 months)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8046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0">
                <a:solidFill>
                  <a:srgbClr val="1F2A44"/>
                </a:solidFill>
                <a:latin typeface="Segoe UI"/>
              </a:rPr>
              <a:t>Deploy in 1 district jail + DLSA: real ingestion feed, eCourts sandbox, Twilio DLT onboarding, staff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Scale v2 (6–12 months)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063240"/>
            <a:ext cx="8046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0">
                <a:solidFill>
                  <a:srgbClr val="1F2A44"/>
                </a:solidFill>
                <a:latin typeface="Segoe UI"/>
              </a:rPr>
              <a:t>State-level roll-out, MFA enforcement for all staff, recommender upgrade (learned ranking + fairness audit), Hindi voice kiosk.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8056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National v3 (12–24 months)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480560"/>
            <a:ext cx="8046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50" b="0">
                <a:solidFill>
                  <a:srgbClr val="1F2A44"/>
                </a:solidFill>
                <a:latin typeface="Segoe UI"/>
              </a:rPr>
              <a:t>ICJS/ePrison integration, DigiLocker login for released prisoners, open anonymised analytics for NCRB dashboards.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5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1300" b="1">
                <a:solidFill>
                  <a:srgbClr val="D9531E"/>
                </a:solidFill>
                <a:latin typeface="Segoe UI"/>
              </a:rPr>
              <a:t>The ask</a:t>
            </a:r>
          </a:p>
          <a:p>
            <a:pPr algn="l"/>
            <a:r>
              <a:rPr sz="1250" b="0">
                <a:solidFill>
                  <a:srgbClr val="1F2A44"/>
                </a:solidFill>
                <a:latin typeface="Segoe UI"/>
              </a:rPr>
              <a:t>Pilot partnership with a State Legal Services Authority + jail department; access to eCourts &amp; DLT gateways.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